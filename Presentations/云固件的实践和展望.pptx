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3" r:id="rId4"/>
    <p:sldId id="264" r:id="rId5"/>
    <p:sldId id="270" r:id="rId6"/>
    <p:sldId id="267" r:id="rId7"/>
    <p:sldId id="268" r:id="rId8"/>
    <p:sldId id="265" r:id="rId9"/>
    <p:sldId id="266" r:id="rId10"/>
    <p:sldId id="26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Microsoft YaHei"/>
      </a:defRPr>
    </a:lvl1pPr>
    <a:lvl2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Microsoft YaHei"/>
      </a:defRPr>
    </a:lvl2pPr>
    <a:lvl3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Microsoft YaHei"/>
      </a:defRPr>
    </a:lvl3pPr>
    <a:lvl4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Microsoft YaHei"/>
      </a:defRPr>
    </a:lvl4pPr>
    <a:lvl5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Microsoft YaHei"/>
      </a:defRPr>
    </a:lvl5pPr>
    <a:lvl6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Microsoft YaHei"/>
      </a:defRPr>
    </a:lvl6pPr>
    <a:lvl7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Microsoft YaHei"/>
      </a:defRPr>
    </a:lvl7pPr>
    <a:lvl8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Microsoft YaHei"/>
      </a:defRPr>
    </a:lvl8pPr>
    <a:lvl9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Microsoft YaHe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8C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5E5E5E"/>
        </a:fontRef>
        <a:srgbClr val="5E5E5E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381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381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5E5E5E"/>
        </a:fontRef>
        <a:srgbClr val="5E5E5E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381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381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5E5E5E"/>
        </a:fontRef>
        <a:srgbClr val="5E5E5E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/>
      <a:tcStyle>
        <a:tcBdr/>
        <a:fill>
          <a:solidFill>
            <a:srgbClr val="FFE8F0"/>
          </a:solidFill>
        </a:fill>
      </a:tcStyle>
    </a:band2H>
    <a:firstCol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381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381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/>
      <a:tcStyle>
        <a:tcBdr/>
        <a:fill>
          <a:solidFill>
            <a:srgbClr val="005E00"/>
          </a:solidFill>
        </a:fill>
      </a:tcStyle>
    </a:band2H>
    <a:firstCol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5E00"/>
          </a:solidFill>
        </a:fill>
      </a:tcStyle>
    </a:lastRow>
    <a:firstRow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5E5E5E"/>
        </a:fontRef>
        <a:srgbClr val="5E5E5E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rgbClr val="D1D1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Col>
    <a:lastRow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381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lastRow>
    <a:firstRow>
      <a:tcTxStyle b="on" i="off">
        <a:fontRef idx="min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381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44" d="100"/>
          <a:sy n="44" d="100"/>
        </p:scale>
        <p:origin x="3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8" name="Shape 1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Microsoft YaHei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Microsoft YaHei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Microsoft YaHei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Microsoft YaHei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Microsoft YaHei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Microsoft YaHei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Microsoft YaHei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Microsoft YaHei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Microsoft YaHe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0563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6A9BC-C9D4-093D-997C-C3C724B5D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4A410A-2488-FEE2-CA4B-4AD9AF09E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EBC497-C8E7-2660-CE11-FB5863C19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8890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AAEEB-0CDC-B898-E625-09CD86350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E7015C-4FA2-6C80-9C55-05F3100E6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4EAEEF-787A-43C2-20A8-F47434ED5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7551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31BB1-DC66-F4C2-43B6-C9E633700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665C8A-1F93-F82D-6219-3C3FE6570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0F1C66-7124-F583-C988-65427D756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0449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EA54B-2B3D-3F35-7B8E-CF9F0DAB3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D18DDC-60B2-5FA3-EC97-F0DB88397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00B43C-6F87-1E6C-FE6A-49E48B0A9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1249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0621-50C0-C2DB-2B3F-5408C398B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400F41-F5FC-1AAB-7658-C841C26E6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5F2F97-CF5F-3C4D-4E12-FD7FCF527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8837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99849-5F4A-9607-6D90-6B26D512E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CAA995-8971-C7D5-1616-09353AFCC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13089B-4B9B-D588-0A0D-3136BED8E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4590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DEF27-C312-FA79-7E05-6B9085E33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472475-5E97-825A-5E69-061379919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C73B26-2707-DA96-1256-DDE6A06D6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5960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封面_副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目录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"/>
          <p:cNvSpPr/>
          <p:nvPr/>
        </p:nvSpPr>
        <p:spPr>
          <a:xfrm>
            <a:off x="-15140" y="-37452"/>
            <a:ext cx="7810501" cy="5517696"/>
          </a:xfrm>
          <a:prstGeom prst="rect">
            <a:avLst/>
          </a:prstGeom>
          <a:solidFill>
            <a:srgbClr val="009CFF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21" name="kv延展_portrait_2.png" descr="kv延展_portrait_2.png"/>
          <p:cNvPicPr>
            <a:picLocks noChangeAspect="1"/>
          </p:cNvPicPr>
          <p:nvPr/>
        </p:nvPicPr>
        <p:blipFill>
          <a:blip r:embed="rId2"/>
          <a:srcRect l="2856" t="12620" r="32538" b="1642"/>
          <a:stretch>
            <a:fillRect/>
          </a:stretch>
        </p:blipFill>
        <p:spPr>
          <a:xfrm>
            <a:off x="-59" y="-50152"/>
            <a:ext cx="7808237" cy="1381630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logo_w@2x.png" descr="logo_w@2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35000"/>
            <a:ext cx="2875492" cy="482600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章节页blu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kv延展_wideOutput_1_2.png" descr="kv延展_wideOutput_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9610"/>
            <a:ext cx="24384001" cy="914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logo_w@2x.png" descr="logo_w@2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35000"/>
            <a:ext cx="2875492" cy="482600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容页-空白底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logo_b@2x.png" descr="logo_b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635000"/>
            <a:ext cx="2905761" cy="482600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A4FF"/>
            </a:gs>
            <a:gs pos="100000">
              <a:srgbClr val="005DFF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ptBackground_update.png" descr="pptBackground_upd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logo_b@2x.png" descr="logo_b@2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" y="635000"/>
            <a:ext cx="2905761" cy="48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标题文本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213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标题文本</a:t>
            </a:r>
          </a:p>
        </p:txBody>
      </p:sp>
      <p:sp>
        <p:nvSpPr>
          <p:cNvPr id="5" name="正文级别 1…"/>
          <p:cNvSpPr txBox="1">
            <a:spLocks noGrp="1"/>
          </p:cNvSpPr>
          <p:nvPr>
            <p:ph type="body" idx="1"/>
          </p:nvPr>
        </p:nvSpPr>
        <p:spPr>
          <a:xfrm>
            <a:off x="13610166" y="4876800"/>
            <a:ext cx="9550401" cy="883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94543" y="13049198"/>
            <a:ext cx="382415" cy="4064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transition spd="med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Microsoft YaHei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crosoft YaHei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crosoft YaHei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crosoft YaHei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crosoft YaHei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crosoft YaHei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crosoft YaHei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crosoft YaHei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crosoft YaHei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icrosoft YaHe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compute.org/w/index.php?title=OCP_Regional_Community:_PRC/Cloud-Firmwar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hyperlink" Target="mailto:guangyao.cao@ocproject.net" TargetMode="External"/><Relationship Id="rId5" Type="http://schemas.openxmlformats.org/officeDocument/2006/relationships/hyperlink" Target="mailto:keno.li@ocproject.net" TargetMode="External"/><Relationship Id="rId4" Type="http://schemas.openxmlformats.org/officeDocument/2006/relationships/hyperlink" Target="mailto:shuo.liu@ocproject.n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模版主标题-方正兰亭粗黑68磅"/>
          <p:cNvSpPr txBox="1"/>
          <p:nvPr/>
        </p:nvSpPr>
        <p:spPr>
          <a:xfrm>
            <a:off x="1365129" y="3746275"/>
            <a:ext cx="11182548" cy="157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9600" b="1">
                <a:solidFill>
                  <a:srgbClr val="1E64FF"/>
                </a:solidFill>
              </a:defRPr>
            </a:lvl1pPr>
          </a:lstStyle>
          <a:p>
            <a:r>
              <a:rPr lang="zh-CN" altLang="en-US" dirty="0"/>
              <a:t>云固件的实践和展望</a:t>
            </a:r>
          </a:p>
        </p:txBody>
      </p:sp>
      <p:sp>
        <p:nvSpPr>
          <p:cNvPr id="122" name="部门描述或职位描述"/>
          <p:cNvSpPr txBox="1"/>
          <p:nvPr/>
        </p:nvSpPr>
        <p:spPr>
          <a:xfrm>
            <a:off x="1365129" y="9590311"/>
            <a:ext cx="3874009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337">
              <a:defRPr spc="118">
                <a:solidFill>
                  <a:srgbClr val="666666"/>
                </a:solidFill>
              </a:defRPr>
            </a:lvl1pPr>
          </a:lstStyle>
          <a:p>
            <a:r>
              <a:rPr lang="zh-CN" altLang="en-US" dirty="0"/>
              <a:t>高级经理，联想</a:t>
            </a:r>
            <a:r>
              <a:rPr lang="en-US" altLang="zh-CN" dirty="0"/>
              <a:t>ISG</a:t>
            </a:r>
            <a:r>
              <a:rPr lang="zh-CN" altLang="en-US" dirty="0"/>
              <a:t>中国区</a:t>
            </a:r>
            <a:endParaRPr dirty="0"/>
          </a:p>
        </p:txBody>
      </p:sp>
      <p:sp>
        <p:nvSpPr>
          <p:cNvPr id="123" name="演讲人"/>
          <p:cNvSpPr txBox="1"/>
          <p:nvPr/>
        </p:nvSpPr>
        <p:spPr>
          <a:xfrm>
            <a:off x="1365129" y="8735301"/>
            <a:ext cx="1880002" cy="748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2438337">
              <a:defRPr sz="4200" b="1" spc="420">
                <a:solidFill>
                  <a:srgbClr val="323F80"/>
                </a:solidFill>
              </a:defRPr>
            </a:lvl1pPr>
          </a:lstStyle>
          <a:p>
            <a:r>
              <a:rPr lang="zh-CN" altLang="en-US" dirty="0"/>
              <a:t>曹光耀</a:t>
            </a:r>
            <a:endParaRPr dirty="0"/>
          </a:p>
        </p:txBody>
      </p:sp>
    </p:spTree>
  </p:cSld>
  <p:clrMapOvr>
    <a:masterClrMapping/>
  </p:clrMapOvr>
  <p:transition spd="med" advTm="19629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圆角矩形"/>
          <p:cNvSpPr/>
          <p:nvPr/>
        </p:nvSpPr>
        <p:spPr>
          <a:xfrm>
            <a:off x="2787650" y="2921000"/>
            <a:ext cx="18808700" cy="86360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5D5D5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33" name="目录"/>
          <p:cNvSpPr txBox="1"/>
          <p:nvPr/>
        </p:nvSpPr>
        <p:spPr>
          <a:xfrm>
            <a:off x="3221322" y="4853919"/>
            <a:ext cx="1436291" cy="902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200">
                <a:solidFill>
                  <a:srgbClr val="00BD63"/>
                </a:solidFill>
              </a:defRPr>
            </a:lvl1pPr>
          </a:lstStyle>
          <a:p>
            <a:r>
              <a:rPr dirty="0" err="1"/>
              <a:t>目录</a:t>
            </a:r>
            <a:endParaRPr dirty="0"/>
          </a:p>
        </p:txBody>
      </p:sp>
      <p:sp>
        <p:nvSpPr>
          <p:cNvPr id="134" name="请添加大章节标题内容-方正兰亭粗黑36磅"/>
          <p:cNvSpPr txBox="1"/>
          <p:nvPr/>
        </p:nvSpPr>
        <p:spPr>
          <a:xfrm>
            <a:off x="10004364" y="3835486"/>
            <a:ext cx="2410916" cy="711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3600" b="1">
                <a:solidFill>
                  <a:srgbClr val="1E64FF"/>
                </a:solidFill>
              </a:defRPr>
            </a:lvl1pPr>
          </a:lstStyle>
          <a:p>
            <a:r>
              <a:rPr lang="zh-CN" altLang="en-US" dirty="0"/>
              <a:t>云固件简介</a:t>
            </a:r>
            <a:endParaRPr dirty="0"/>
          </a:p>
        </p:txBody>
      </p:sp>
      <p:sp>
        <p:nvSpPr>
          <p:cNvPr id="136" name="01"/>
          <p:cNvSpPr txBox="1"/>
          <p:nvPr/>
        </p:nvSpPr>
        <p:spPr>
          <a:xfrm>
            <a:off x="9168578" y="3909333"/>
            <a:ext cx="651099" cy="6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800" b="1">
                <a:solidFill>
                  <a:srgbClr val="FF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01</a:t>
            </a:r>
          </a:p>
        </p:txBody>
      </p:sp>
      <p:sp>
        <p:nvSpPr>
          <p:cNvPr id="137" name="请添加大章节标题内容-方正兰亭粗黑36磅"/>
          <p:cNvSpPr txBox="1"/>
          <p:nvPr/>
        </p:nvSpPr>
        <p:spPr>
          <a:xfrm>
            <a:off x="10004364" y="5782819"/>
            <a:ext cx="2872581" cy="711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3600" b="1">
                <a:solidFill>
                  <a:srgbClr val="1E64FF"/>
                </a:solidFill>
              </a:defRPr>
            </a:lvl1pPr>
          </a:lstStyle>
          <a:p>
            <a:r>
              <a:rPr lang="zh-CN" altLang="en-US" dirty="0"/>
              <a:t>云固件的现状</a:t>
            </a:r>
            <a:endParaRPr dirty="0"/>
          </a:p>
        </p:txBody>
      </p:sp>
      <p:sp>
        <p:nvSpPr>
          <p:cNvPr id="139" name="02"/>
          <p:cNvSpPr txBox="1"/>
          <p:nvPr/>
        </p:nvSpPr>
        <p:spPr>
          <a:xfrm>
            <a:off x="9168578" y="5856666"/>
            <a:ext cx="651099" cy="6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800" b="1">
                <a:solidFill>
                  <a:srgbClr val="FF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02</a:t>
            </a:r>
          </a:p>
        </p:txBody>
      </p:sp>
      <p:sp>
        <p:nvSpPr>
          <p:cNvPr id="140" name="请添加大章节标题内容-方正兰亭粗黑36磅"/>
          <p:cNvSpPr txBox="1"/>
          <p:nvPr/>
        </p:nvSpPr>
        <p:spPr>
          <a:xfrm>
            <a:off x="10004364" y="7730153"/>
            <a:ext cx="3795911" cy="711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3600" b="1">
                <a:solidFill>
                  <a:srgbClr val="1E64FF"/>
                </a:solidFill>
              </a:defRPr>
            </a:lvl1pPr>
          </a:lstStyle>
          <a:p>
            <a:r>
              <a:rPr lang="zh-CN" altLang="en-US" dirty="0"/>
              <a:t>云固件的关键问题</a:t>
            </a:r>
            <a:endParaRPr dirty="0"/>
          </a:p>
        </p:txBody>
      </p:sp>
      <p:sp>
        <p:nvSpPr>
          <p:cNvPr id="142" name="03"/>
          <p:cNvSpPr txBox="1"/>
          <p:nvPr/>
        </p:nvSpPr>
        <p:spPr>
          <a:xfrm>
            <a:off x="9168578" y="7803999"/>
            <a:ext cx="651099" cy="6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800" b="1">
                <a:solidFill>
                  <a:srgbClr val="FF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03</a:t>
            </a:r>
          </a:p>
        </p:txBody>
      </p:sp>
      <p:sp>
        <p:nvSpPr>
          <p:cNvPr id="143" name="请添加大章节标题内容-方正兰亭粗黑36磅"/>
          <p:cNvSpPr txBox="1"/>
          <p:nvPr/>
        </p:nvSpPr>
        <p:spPr>
          <a:xfrm>
            <a:off x="10004364" y="9677487"/>
            <a:ext cx="3795911" cy="711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3600" b="1">
                <a:solidFill>
                  <a:srgbClr val="1E64FF"/>
                </a:solidFill>
              </a:defRPr>
            </a:lvl1pPr>
          </a:lstStyle>
          <a:p>
            <a:r>
              <a:rPr lang="zh-CN" altLang="en-US" dirty="0"/>
              <a:t>云固件的发展展望</a:t>
            </a:r>
            <a:endParaRPr dirty="0"/>
          </a:p>
        </p:txBody>
      </p:sp>
      <p:sp>
        <p:nvSpPr>
          <p:cNvPr id="145" name="04"/>
          <p:cNvSpPr txBox="1"/>
          <p:nvPr/>
        </p:nvSpPr>
        <p:spPr>
          <a:xfrm>
            <a:off x="9168578" y="9751333"/>
            <a:ext cx="651099" cy="631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3800" b="1">
                <a:solidFill>
                  <a:srgbClr val="FF8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04</a:t>
            </a:r>
          </a:p>
        </p:txBody>
      </p:sp>
      <p:grpSp>
        <p:nvGrpSpPr>
          <p:cNvPr id="149" name="成组"/>
          <p:cNvGrpSpPr/>
          <p:nvPr/>
        </p:nvGrpSpPr>
        <p:grpSpPr>
          <a:xfrm>
            <a:off x="9168577" y="5630332"/>
            <a:ext cx="11460342" cy="3894668"/>
            <a:chOff x="0" y="0"/>
            <a:chExt cx="11460340" cy="3894667"/>
          </a:xfrm>
        </p:grpSpPr>
        <p:sp>
          <p:nvSpPr>
            <p:cNvPr id="146" name="线条"/>
            <p:cNvSpPr/>
            <p:nvPr/>
          </p:nvSpPr>
          <p:spPr>
            <a:xfrm>
              <a:off x="0" y="0"/>
              <a:ext cx="11460341" cy="0"/>
            </a:xfrm>
            <a:prstGeom prst="line">
              <a:avLst/>
            </a:prstGeom>
            <a:noFill/>
            <a:ln w="12700" cap="flat">
              <a:solidFill>
                <a:srgbClr val="D5D5D5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47" name="线条"/>
            <p:cNvSpPr/>
            <p:nvPr/>
          </p:nvSpPr>
          <p:spPr>
            <a:xfrm>
              <a:off x="0" y="1947333"/>
              <a:ext cx="11460341" cy="1"/>
            </a:xfrm>
            <a:prstGeom prst="line">
              <a:avLst/>
            </a:prstGeom>
            <a:noFill/>
            <a:ln w="12700" cap="flat">
              <a:solidFill>
                <a:srgbClr val="D5D5D5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48" name="线条"/>
            <p:cNvSpPr/>
            <p:nvPr/>
          </p:nvSpPr>
          <p:spPr>
            <a:xfrm>
              <a:off x="0" y="3894667"/>
              <a:ext cx="11460341" cy="1"/>
            </a:xfrm>
            <a:prstGeom prst="line">
              <a:avLst/>
            </a:prstGeom>
            <a:noFill/>
            <a:ln w="12700" cap="flat">
              <a:solidFill>
                <a:srgbClr val="D5D5D5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p:transition spd="med" advTm="62643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请填写大标题-方正兰亭粗黑60磅-限制一行"/>
          <p:cNvSpPr txBox="1"/>
          <p:nvPr/>
        </p:nvSpPr>
        <p:spPr>
          <a:xfrm>
            <a:off x="10345342" y="1257716"/>
            <a:ext cx="3693319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5600" b="1">
                <a:solidFill>
                  <a:srgbClr val="1E64FF"/>
                </a:solidFill>
              </a:defRPr>
            </a:lvl1pPr>
          </a:lstStyle>
          <a:p>
            <a:r>
              <a:rPr lang="zh-CN" altLang="en-US" dirty="0"/>
              <a:t>云固件简介</a:t>
            </a:r>
          </a:p>
        </p:txBody>
      </p:sp>
      <p:sp>
        <p:nvSpPr>
          <p:cNvPr id="235" name="请填写副标题内容-方正兰亭准黑32磅-建议内容尽量精简,不超过一行。(可删除)"/>
          <p:cNvSpPr txBox="1"/>
          <p:nvPr/>
        </p:nvSpPr>
        <p:spPr>
          <a:xfrm>
            <a:off x="9349882" y="2308671"/>
            <a:ext cx="5684249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rPr lang="zh-CN" altLang="en-US" dirty="0"/>
              <a:t>为什么是</a:t>
            </a:r>
            <a:r>
              <a:rPr lang="en-US" altLang="zh-CN" dirty="0"/>
              <a:t>LinuxBoot with u-root</a:t>
            </a:r>
            <a:endParaRPr dirty="0"/>
          </a:p>
        </p:txBody>
      </p:sp>
      <p:pic>
        <p:nvPicPr>
          <p:cNvPr id="4" name="图片 3" descr="https://www.linuxboot.org/&#10;">
            <a:extLst>
              <a:ext uri="{FF2B5EF4-FFF2-40B4-BE49-F238E27FC236}">
                <a16:creationId xmlns:a16="http://schemas.microsoft.com/office/drawing/2014/main" id="{02E54A1F-1A36-1849-A6D0-5E4EEFAD5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215" y="4561244"/>
            <a:ext cx="13595298" cy="670909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49F57C3-202F-F208-49B4-704029D29D52}"/>
              </a:ext>
            </a:extLst>
          </p:cNvPr>
          <p:cNvSpPr txBox="1"/>
          <p:nvPr/>
        </p:nvSpPr>
        <p:spPr>
          <a:xfrm>
            <a:off x="1625601" y="3310187"/>
            <a:ext cx="7184572" cy="7356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800100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设备驱动：沿用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Linux kernel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驱动，驱动健壮性经过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Linux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各个发行版检验，更加成熟稳定。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强大的功能开发环境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: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LinuxBoot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成熟多线程和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golang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语言加持下，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BIOS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功能开发效率得到大幅提升。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活跃的社区环境支持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: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无论是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linux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还是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golang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开源社区活跃程度都较高。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0" marR="0" algn="l" defTabSz="2438337" rtl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Microsoft YaHei"/>
            </a:endParaRPr>
          </a:p>
        </p:txBody>
      </p:sp>
    </p:spTree>
  </p:cSld>
  <p:clrMapOvr>
    <a:masterClrMapping/>
  </p:clrMapOvr>
  <p:transition spd="med" advTm="260014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D776C-16FB-E451-1C1A-62037022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请填写大标题-方正兰亭粗黑60磅-限制一行">
            <a:extLst>
              <a:ext uri="{FF2B5EF4-FFF2-40B4-BE49-F238E27FC236}">
                <a16:creationId xmlns:a16="http://schemas.microsoft.com/office/drawing/2014/main" id="{F97D40A6-2835-DD8B-3963-EE0C64A3FB49}"/>
              </a:ext>
            </a:extLst>
          </p:cNvPr>
          <p:cNvSpPr txBox="1"/>
          <p:nvPr/>
        </p:nvSpPr>
        <p:spPr>
          <a:xfrm>
            <a:off x="9986272" y="1257716"/>
            <a:ext cx="44114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5600" b="1">
                <a:solidFill>
                  <a:srgbClr val="1E64FF"/>
                </a:solidFill>
              </a:defRPr>
            </a:lvl1pPr>
          </a:lstStyle>
          <a:p>
            <a:r>
              <a:rPr lang="zh-CN" altLang="en-US" dirty="0"/>
              <a:t>云固件的现状</a:t>
            </a:r>
          </a:p>
        </p:txBody>
      </p:sp>
      <p:sp>
        <p:nvSpPr>
          <p:cNvPr id="235" name="请填写副标题内容-方正兰亭准黑32磅-建议内容尽量精简,不超过一行。(可删除)">
            <a:extLst>
              <a:ext uri="{FF2B5EF4-FFF2-40B4-BE49-F238E27FC236}">
                <a16:creationId xmlns:a16="http://schemas.microsoft.com/office/drawing/2014/main" id="{B704A701-DA66-AFDB-C430-335EA7EC3565}"/>
              </a:ext>
            </a:extLst>
          </p:cNvPr>
          <p:cNvSpPr txBox="1"/>
          <p:nvPr/>
        </p:nvSpPr>
        <p:spPr>
          <a:xfrm>
            <a:off x="8937908" y="2308671"/>
            <a:ext cx="6508192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rPr lang="zh-CN" altLang="en-US" dirty="0"/>
              <a:t>基于</a:t>
            </a:r>
            <a:r>
              <a:rPr lang="en-US" altLang="zh-CN" dirty="0"/>
              <a:t>LinuxBoot</a:t>
            </a:r>
            <a:r>
              <a:rPr lang="zh-CN" altLang="en-US" dirty="0"/>
              <a:t>的开发进展</a:t>
            </a:r>
            <a:r>
              <a:rPr lang="en-US" altLang="zh-CN" dirty="0"/>
              <a:t>-</a:t>
            </a:r>
            <a:r>
              <a:rPr lang="zh-CN" altLang="en-US" dirty="0"/>
              <a:t>功能补齐</a:t>
            </a:r>
            <a:endParaRPr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48F80DC-BA07-632C-4C1A-CB8CBB8B5BA5}"/>
              </a:ext>
            </a:extLst>
          </p:cNvPr>
          <p:cNvSpPr txBox="1"/>
          <p:nvPr/>
        </p:nvSpPr>
        <p:spPr>
          <a:xfrm>
            <a:off x="1669144" y="2590799"/>
            <a:ext cx="7184572" cy="101699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799200" indent="-457200" algn="l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Setup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界面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: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提供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golang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开发的轻量级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setup UI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。自动抓取所有系统选项配置信息自动生成。支持分页切换，保存，恢复默认值和搜索等功能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200" indent="-457200" algn="l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变量编辑工具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fwedit: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支持选项整体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/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部分导入导出，默认值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/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当前值修改功能以及密码等相关安全功能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Redfish: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 支持资产信息收集和发送，基于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redfish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的选项值修改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其他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UEFI BIOS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支持的功能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0" marR="0" algn="l" defTabSz="2438337" rtl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Microsoft YaHei"/>
            </a:endParaRPr>
          </a:p>
        </p:txBody>
      </p:sp>
      <p:pic>
        <p:nvPicPr>
          <p:cNvPr id="3" name="图片 2" descr="文本">
            <a:extLst>
              <a:ext uri="{FF2B5EF4-FFF2-40B4-BE49-F238E27FC236}">
                <a16:creationId xmlns:a16="http://schemas.microsoft.com/office/drawing/2014/main" id="{2303D7AF-689B-8411-A19D-4114628E22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0897" y="3585550"/>
            <a:ext cx="11381709" cy="68502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5473032"/>
      </p:ext>
    </p:extLst>
  </p:cSld>
  <p:clrMapOvr>
    <a:masterClrMapping/>
  </p:clrMapOvr>
  <p:transition spd="med" advTm="154544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7299C-F72F-4062-42A4-B51A26FE1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请填写大标题-方正兰亭粗黑60磅-限制一行">
            <a:extLst>
              <a:ext uri="{FF2B5EF4-FFF2-40B4-BE49-F238E27FC236}">
                <a16:creationId xmlns:a16="http://schemas.microsoft.com/office/drawing/2014/main" id="{2D3B77E6-BCE1-24EF-DFCD-25754F607878}"/>
              </a:ext>
            </a:extLst>
          </p:cNvPr>
          <p:cNvSpPr txBox="1"/>
          <p:nvPr/>
        </p:nvSpPr>
        <p:spPr>
          <a:xfrm>
            <a:off x="9986272" y="1257716"/>
            <a:ext cx="44114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5600" b="1">
                <a:solidFill>
                  <a:srgbClr val="1E64FF"/>
                </a:solidFill>
              </a:defRPr>
            </a:lvl1pPr>
          </a:lstStyle>
          <a:p>
            <a:r>
              <a:rPr lang="zh-CN" altLang="en-US" dirty="0"/>
              <a:t>云固件的现状</a:t>
            </a:r>
          </a:p>
        </p:txBody>
      </p:sp>
      <p:sp>
        <p:nvSpPr>
          <p:cNvPr id="235" name="请填写副标题内容-方正兰亭准黑32磅-建议内容尽量精简,不超过一行。(可删除)">
            <a:extLst>
              <a:ext uri="{FF2B5EF4-FFF2-40B4-BE49-F238E27FC236}">
                <a16:creationId xmlns:a16="http://schemas.microsoft.com/office/drawing/2014/main" id="{16B1123D-D375-9E05-2353-F9B345DFF3D1}"/>
              </a:ext>
            </a:extLst>
          </p:cNvPr>
          <p:cNvSpPr txBox="1"/>
          <p:nvPr/>
        </p:nvSpPr>
        <p:spPr>
          <a:xfrm>
            <a:off x="8501893" y="2308671"/>
            <a:ext cx="7380226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rPr lang="zh-CN" altLang="en-US" dirty="0"/>
              <a:t>基于</a:t>
            </a:r>
            <a:r>
              <a:rPr lang="en-US" altLang="zh-CN" dirty="0"/>
              <a:t>LinuxBoot</a:t>
            </a:r>
            <a:r>
              <a:rPr lang="zh-CN" altLang="en-US" dirty="0"/>
              <a:t>的开发进展</a:t>
            </a:r>
            <a:r>
              <a:rPr lang="en-US" altLang="zh-CN" dirty="0"/>
              <a:t>-</a:t>
            </a:r>
            <a:r>
              <a:rPr lang="zh-CN" altLang="en-US" dirty="0"/>
              <a:t>配置数据分发</a:t>
            </a:r>
            <a:endParaRPr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D4FFE0F-2DA5-3813-81D7-B6E2ED87F4CD}"/>
              </a:ext>
            </a:extLst>
          </p:cNvPr>
          <p:cNvSpPr txBox="1"/>
          <p:nvPr/>
        </p:nvSpPr>
        <p:spPr>
          <a:xfrm>
            <a:off x="1669144" y="4182005"/>
            <a:ext cx="7184572" cy="6987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799200" indent="-457200" algn="l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以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fwconfig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为核心定义数据交换格式，隔离底层架构和平台相关代码。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799200" indent="-457200" algn="l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所有修改方法最终汇总到一个数据通路，避免冲突和不一致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  <a:sym typeface="Microsoft YaHei"/>
              </a:rPr>
              <a:t>蓝色部分跨平台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可直接复用，绿色平台相关代码需要适配底层分发架构和数据格式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Microsoft YaHei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22FE425-A96E-7016-133B-2EAA4A91B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6272" y="4061205"/>
            <a:ext cx="12489939" cy="596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93727"/>
      </p:ext>
    </p:extLst>
  </p:cSld>
  <p:clrMapOvr>
    <a:masterClrMapping/>
  </p:clrMapOvr>
  <p:transition spd="med" advTm="152156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7C7A5-E781-6C3A-4901-62E0A7041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请填写大标题-方正兰亭粗黑60磅-限制一行">
            <a:extLst>
              <a:ext uri="{FF2B5EF4-FFF2-40B4-BE49-F238E27FC236}">
                <a16:creationId xmlns:a16="http://schemas.microsoft.com/office/drawing/2014/main" id="{96C2FF8D-E7AC-BD9D-FF56-446DE9432BD8}"/>
              </a:ext>
            </a:extLst>
          </p:cNvPr>
          <p:cNvSpPr txBox="1"/>
          <p:nvPr/>
        </p:nvSpPr>
        <p:spPr>
          <a:xfrm>
            <a:off x="9986272" y="1257716"/>
            <a:ext cx="44114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5600" b="1">
                <a:solidFill>
                  <a:srgbClr val="1E64FF"/>
                </a:solidFill>
              </a:defRPr>
            </a:lvl1pPr>
          </a:lstStyle>
          <a:p>
            <a:r>
              <a:rPr lang="zh-CN" altLang="en-US" dirty="0"/>
              <a:t>云固件的现状</a:t>
            </a:r>
          </a:p>
        </p:txBody>
      </p:sp>
      <p:sp>
        <p:nvSpPr>
          <p:cNvPr id="235" name="请填写副标题内容-方正兰亭准黑32磅-建议内容尽量精简,不超过一行。(可删除)">
            <a:extLst>
              <a:ext uri="{FF2B5EF4-FFF2-40B4-BE49-F238E27FC236}">
                <a16:creationId xmlns:a16="http://schemas.microsoft.com/office/drawing/2014/main" id="{29B52A8A-55FC-7EC3-9710-8A19832ECC1C}"/>
              </a:ext>
            </a:extLst>
          </p:cNvPr>
          <p:cNvSpPr txBox="1"/>
          <p:nvPr/>
        </p:nvSpPr>
        <p:spPr>
          <a:xfrm>
            <a:off x="8776810" y="2308671"/>
            <a:ext cx="6830395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rPr lang="en-US" altLang="zh-CN" dirty="0"/>
              <a:t>EFI</a:t>
            </a:r>
            <a:r>
              <a:rPr lang="zh-CN" altLang="en-US" dirty="0"/>
              <a:t>系统的安装和启动</a:t>
            </a:r>
            <a:r>
              <a:rPr lang="en-US" altLang="zh-CN" dirty="0"/>
              <a:t>-with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UefiPayload</a:t>
            </a:r>
            <a:endParaRPr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AA34E5-D5A5-3725-CA42-483848F7F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3581517"/>
            <a:ext cx="8606774" cy="759358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60428EA-87FA-E6B5-313C-BA4E09446D53}"/>
              </a:ext>
            </a:extLst>
          </p:cNvPr>
          <p:cNvSpPr txBox="1"/>
          <p:nvPr/>
        </p:nvSpPr>
        <p:spPr>
          <a:xfrm>
            <a:off x="1625601" y="2423794"/>
            <a:ext cx="7184572" cy="91296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799200" indent="-457200" algn="l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跳转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: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u-root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界面解析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UefiPayload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，通过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kexec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完成跳转。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799200" indent="-457200" algn="l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构建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: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UefiPayload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中利用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coreboot table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重新构建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SMBIOS/ACPI/MemoryMap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等信息，构建最小的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BootService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RuntimeService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填入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SystemTable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中。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342900" lvl="3" algn="l" defTabSz="1218621" hangingPunct="1">
              <a:lnSpc>
                <a:spcPct val="120000"/>
              </a:lnSpc>
              <a:spcAft>
                <a:spcPts val="600"/>
              </a:spcAft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启动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: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通过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UEFI Driver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安装或者启动相应设备。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0" marR="0" algn="l" defTabSz="2438337" rtl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225240471"/>
      </p:ext>
    </p:extLst>
  </p:cSld>
  <p:clrMapOvr>
    <a:masterClrMapping/>
  </p:clrMapOvr>
  <p:transition spd="med" advTm="147398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9E784-06BE-DC28-FD7E-B6571C37B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请填写大标题-方正兰亭粗黑60磅-限制一行">
            <a:extLst>
              <a:ext uri="{FF2B5EF4-FFF2-40B4-BE49-F238E27FC236}">
                <a16:creationId xmlns:a16="http://schemas.microsoft.com/office/drawing/2014/main" id="{78CA33C0-13D4-9921-BD75-3E3A2BE02446}"/>
              </a:ext>
            </a:extLst>
          </p:cNvPr>
          <p:cNvSpPr txBox="1"/>
          <p:nvPr/>
        </p:nvSpPr>
        <p:spPr>
          <a:xfrm>
            <a:off x="9986272" y="1257716"/>
            <a:ext cx="4411464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5600" b="1">
                <a:solidFill>
                  <a:srgbClr val="1E64FF"/>
                </a:solidFill>
              </a:defRPr>
            </a:lvl1pPr>
          </a:lstStyle>
          <a:p>
            <a:r>
              <a:rPr lang="zh-CN" altLang="en-US" dirty="0"/>
              <a:t>云固件的现状</a:t>
            </a:r>
          </a:p>
        </p:txBody>
      </p:sp>
      <p:sp>
        <p:nvSpPr>
          <p:cNvPr id="235" name="请填写副标题内容-方正兰亭准黑32磅-建议内容尽量精简,不超过一行。(可删除)">
            <a:extLst>
              <a:ext uri="{FF2B5EF4-FFF2-40B4-BE49-F238E27FC236}">
                <a16:creationId xmlns:a16="http://schemas.microsoft.com/office/drawing/2014/main" id="{94F4922E-80C8-3261-5FF8-579CF3F41252}"/>
              </a:ext>
            </a:extLst>
          </p:cNvPr>
          <p:cNvSpPr txBox="1"/>
          <p:nvPr/>
        </p:nvSpPr>
        <p:spPr>
          <a:xfrm>
            <a:off x="9198397" y="2308671"/>
            <a:ext cx="5987216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r>
              <a:rPr lang="en-US" altLang="zh-CN" dirty="0"/>
              <a:t>EFI</a:t>
            </a:r>
            <a:r>
              <a:rPr lang="zh-CN" altLang="en-US" dirty="0"/>
              <a:t>系统的安装和启动</a:t>
            </a:r>
            <a:r>
              <a:rPr lang="en-US" altLang="zh-CN" dirty="0"/>
              <a:t>-with Grubx</a:t>
            </a:r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39D924-2555-D74D-126B-DA986EA31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9531" y="4878600"/>
            <a:ext cx="12806525" cy="458651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E3E12DA-55AB-2B8A-848F-3D352D047B66}"/>
              </a:ext>
            </a:extLst>
          </p:cNvPr>
          <p:cNvSpPr txBox="1"/>
          <p:nvPr/>
        </p:nvSpPr>
        <p:spPr>
          <a:xfrm>
            <a:off x="1625601" y="3605655"/>
            <a:ext cx="7184572" cy="67659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UefiPayload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阶段主要负责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UEFI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环境创建，并在内存中驻留，备后续使用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LinuxBoot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阶段主要负责接收用户输入，并针对用户指令做出响应的动作，包括启动策略制定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Grubx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阶段主要负责恢复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UEFI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执行环境，引导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UEFI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环境操作系统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0" marR="0" algn="l" defTabSz="2438337" rtl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629846091"/>
      </p:ext>
    </p:extLst>
  </p:cSld>
  <p:clrMapOvr>
    <a:masterClrMapping/>
  </p:clrMapOvr>
  <p:transition spd="med" advTm="168653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CC305-2623-14D6-D101-06C0A9028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请填写大标题-方正兰亭粗黑60磅-限制一行">
            <a:extLst>
              <a:ext uri="{FF2B5EF4-FFF2-40B4-BE49-F238E27FC236}">
                <a16:creationId xmlns:a16="http://schemas.microsoft.com/office/drawing/2014/main" id="{D25DEB5E-BE7E-3609-E802-685856DB1D02}"/>
              </a:ext>
            </a:extLst>
          </p:cNvPr>
          <p:cNvSpPr txBox="1"/>
          <p:nvPr/>
        </p:nvSpPr>
        <p:spPr>
          <a:xfrm>
            <a:off x="9268130" y="1257716"/>
            <a:ext cx="5847755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5600" b="1">
                <a:solidFill>
                  <a:srgbClr val="1E64FF"/>
                </a:solidFill>
              </a:defRPr>
            </a:lvl1pPr>
          </a:lstStyle>
          <a:p>
            <a:r>
              <a:rPr lang="zh-CN" altLang="en-US" dirty="0"/>
              <a:t>云固件的关键问题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72EE5A-1F04-9502-01A2-AEA6E1DEF811}"/>
              </a:ext>
            </a:extLst>
          </p:cNvPr>
          <p:cNvSpPr txBox="1"/>
          <p:nvPr/>
        </p:nvSpPr>
        <p:spPr>
          <a:xfrm>
            <a:off x="1625601" y="5082981"/>
            <a:ext cx="17025256" cy="38113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800100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如何在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LinuxBoot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方案作为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BIOS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情况下，支持当前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UEFI compatible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的系统？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如果只需要支持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Linux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系统，是否仍要保留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Grub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支持？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342900" lvl="3" algn="l" defTabSz="1218621" hangingPunct="1">
              <a:lnSpc>
                <a:spcPct val="120000"/>
              </a:lnSpc>
              <a:spcAft>
                <a:spcPts val="600"/>
              </a:spcAft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0" marR="0" algn="l" defTabSz="2438337" rtl="0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290856344"/>
      </p:ext>
    </p:extLst>
  </p:cSld>
  <p:clrMapOvr>
    <a:masterClrMapping/>
  </p:clrMapOvr>
  <p:transition spd="med" advTm="9362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892CF-E70F-AC19-F897-0922859DE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请填写大标题-方正兰亭粗黑60磅-限制一行">
            <a:extLst>
              <a:ext uri="{FF2B5EF4-FFF2-40B4-BE49-F238E27FC236}">
                <a16:creationId xmlns:a16="http://schemas.microsoft.com/office/drawing/2014/main" id="{A6A74BB0-F8A4-39A6-0A3D-2DC1F5791A37}"/>
              </a:ext>
            </a:extLst>
          </p:cNvPr>
          <p:cNvSpPr txBox="1"/>
          <p:nvPr/>
        </p:nvSpPr>
        <p:spPr>
          <a:xfrm>
            <a:off x="9268135" y="1257716"/>
            <a:ext cx="5847755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5600" b="1">
                <a:solidFill>
                  <a:srgbClr val="1E64FF"/>
                </a:solidFill>
              </a:defRPr>
            </a:lvl1pPr>
          </a:lstStyle>
          <a:p>
            <a:r>
              <a:rPr lang="zh-CN" altLang="en-US" dirty="0"/>
              <a:t>云固件的发展展望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4C682B-1414-4D72-DA3F-8FE9BB3C4824}"/>
              </a:ext>
            </a:extLst>
          </p:cNvPr>
          <p:cNvSpPr txBox="1"/>
          <p:nvPr/>
        </p:nvSpPr>
        <p:spPr>
          <a:xfrm>
            <a:off x="1625601" y="4342781"/>
            <a:ext cx="7184572" cy="52917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芯片初始化接口更加统一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系统固件产品化，平台代际延续性更强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基于开源代码维护一套自研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codebase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将更加简单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800100" lvl="3" indent="-457200" algn="l" defTabSz="1218621" hangingPunct="1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endParaRPr kumimoji="0" lang="en-US" altLang="zh-CN" sz="32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  <a:sym typeface="Microsoft YaHei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D49349F-6345-D64F-E586-0912F5C28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5242" y="3460196"/>
            <a:ext cx="11350766" cy="754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17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 advTm="149895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DB989-4452-D8B3-870D-5418EF5A3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请填写大标题-方正兰亭粗黑60磅-限制一行">
            <a:extLst>
              <a:ext uri="{FF2B5EF4-FFF2-40B4-BE49-F238E27FC236}">
                <a16:creationId xmlns:a16="http://schemas.microsoft.com/office/drawing/2014/main" id="{CCC8215B-5A01-BDB6-877C-EAC2E03D9C0F}"/>
              </a:ext>
            </a:extLst>
          </p:cNvPr>
          <p:cNvSpPr txBox="1"/>
          <p:nvPr/>
        </p:nvSpPr>
        <p:spPr>
          <a:xfrm>
            <a:off x="9614385" y="1257716"/>
            <a:ext cx="5155258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5600" b="1">
                <a:solidFill>
                  <a:srgbClr val="1E64FF"/>
                </a:solidFill>
              </a:defRPr>
            </a:lvl1pPr>
          </a:lstStyle>
          <a:p>
            <a:r>
              <a:rPr lang="en-US" altLang="zh-CN" dirty="0"/>
              <a:t>Call for action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F94339-263C-654A-F20A-A5427A0FD90F}"/>
              </a:ext>
            </a:extLst>
          </p:cNvPr>
          <p:cNvSpPr txBox="1"/>
          <p:nvPr/>
        </p:nvSpPr>
        <p:spPr>
          <a:xfrm>
            <a:off x="2235199" y="3501295"/>
            <a:ext cx="20581258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云固件子项目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wiki</a:t>
            </a:r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https://www.opencompute.org/w/index.php?title=OCP_Regional_Community:_PRC/Cloud-Firmware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联系人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/>
            <a:r>
              <a:rPr lang="en-US" altLang="zh-CN" sz="3200" dirty="0">
                <a:hlinkClick r:id="rId4"/>
              </a:rPr>
              <a:t>shuo.liu@ocproject.net</a:t>
            </a:r>
            <a:endParaRPr lang="en-US" altLang="zh-CN" sz="3200" dirty="0"/>
          </a:p>
          <a:p>
            <a:pPr algn="l"/>
            <a:r>
              <a:rPr lang="en-US" altLang="zh-CN" sz="3200" dirty="0">
                <a:hlinkClick r:id="rId5"/>
              </a:rPr>
              <a:t>keno.li@ocproject.net</a:t>
            </a:r>
            <a:endParaRPr lang="en-US" altLang="zh-CN" sz="3200" dirty="0"/>
          </a:p>
          <a:p>
            <a:pPr algn="l"/>
            <a:r>
              <a:rPr lang="en-US" altLang="zh-CN" sz="3200" dirty="0">
                <a:hlinkClick r:id="rId6"/>
              </a:rPr>
              <a:t>guangyao.cao@ocproject.net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348387575"/>
      </p:ext>
    </p:extLst>
  </p:cSld>
  <p:clrMapOvr>
    <a:masterClrMapping/>
  </p:clrMapOvr>
  <p:transition spd="med" advTm="75548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E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Microsoft YaHe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Microsoft YaHe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E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Microsoft YaHe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Microsoft YaHe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21_BasicWhite">
    <a:dk1>
      <a:srgbClr val="5E5E5E"/>
    </a:dk1>
    <a:lt1>
      <a:srgbClr val="FFFFFF"/>
    </a:lt1>
    <a:dk2>
      <a:srgbClr val="A7A7A7"/>
    </a:dk2>
    <a:lt2>
      <a:srgbClr val="535353"/>
    </a:lt2>
    <a:accent1>
      <a:srgbClr val="00A2FF"/>
    </a:accent1>
    <a:accent2>
      <a:srgbClr val="16E7CF"/>
    </a:accent2>
    <a:accent3>
      <a:srgbClr val="61D836"/>
    </a:accent3>
    <a:accent4>
      <a:srgbClr val="FFD932"/>
    </a:accent4>
    <a:accent5>
      <a:srgbClr val="FF644E"/>
    </a:accent5>
    <a:accent6>
      <a:srgbClr val="FF42A1"/>
    </a:accent6>
    <a:hlink>
      <a:srgbClr val="0000FF"/>
    </a:hlink>
    <a:folHlink>
      <a:srgbClr val="FF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2842</TotalTime>
  <Words>532</Words>
  <Application>Microsoft Office PowerPoint</Application>
  <PresentationFormat>自定义</PresentationFormat>
  <Paragraphs>69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微软雅黑</vt:lpstr>
      <vt:lpstr>微软雅黑</vt:lpstr>
      <vt:lpstr>Arial</vt:lpstr>
      <vt:lpstr>Wingdings</vt:lpstr>
      <vt:lpstr>21_BasicWhite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Guangyao GY2 Cao</cp:lastModifiedBy>
  <cp:revision>42</cp:revision>
  <dcterms:modified xsi:type="dcterms:W3CDTF">2025-09-17T02:08:37Z</dcterms:modified>
</cp:coreProperties>
</file>